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6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5A6472"/>
                </a:solidFill>
                <a:latin typeface="Arial"/>
              </a:rPr>
              <a:t>Balanced model — final results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1F8A8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0.875</c:v>
                </c:pt>
                <c:pt idx="1">
                  <c:v>0.91610000000000003</c:v>
                </c:pt>
                <c:pt idx="2">
                  <c:v>0.875</c:v>
                </c:pt>
                <c:pt idx="3">
                  <c:v>0.89339999999999997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76-417E-9124-EC06A54782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82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haelowos-debug/analystlab-ai-internship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entiment-analysis-owonubi-michael.streamlit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CAPSTONE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9601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 Analysis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 Reviews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customer sentiment from written reviews using NLP and machine learning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892040"/>
            <a:ext cx="1280160" cy="0"/>
          </a:xfrm>
          <a:prstGeom prst="line">
            <a:avLst/>
          </a:prstGeom>
          <a:noFill/>
          <a:ln w="38100">
            <a:solidFill>
              <a:srgbClr val="1F8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— Artificial Intelligence Internship  |  Final Capstone Project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Owonubi Michael Favour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sentiment matters to a business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86000"/>
            <a:ext cx="457200" cy="457200"/>
          </a:xfrm>
          <a:prstGeom prst="rect">
            <a:avLst/>
          </a:prstGeom>
          <a:solidFill>
            <a:srgbClr val="1F8A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receive thousands of product reviews and can't manually read every one to know how customers feel.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286000"/>
            <a:ext cx="457200" cy="45720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negative sentiment trends can signal churn risk, product defects, or service issues before they escalate.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4F6F8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58200" y="2286000"/>
            <a:ext cx="457200" cy="457200"/>
          </a:xfrm>
          <a:prstGeom prst="rect">
            <a:avLst/>
          </a:prstGeom>
          <a:solidFill>
            <a:srgbClr val="1F8A8C"/>
          </a:solidFill>
          <a:ln/>
        </p:spPr>
      </p:sp>
      <p:sp>
        <p:nvSpPr>
          <p:cNvPr id="14" name="Text 12"/>
          <p:cNvSpPr/>
          <p:nvPr/>
        </p:nvSpPr>
        <p:spPr>
          <a:xfrm>
            <a:off x="84582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33832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classify a review as Positive, Negative, or Neutral, at scale and in real time.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74320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3566160" y="1965960"/>
            <a:ext cx="777240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756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94760" y="207568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reviews (electronics), via GitHub CSV mirror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2624328"/>
            <a:ext cx="27432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566160" y="2624328"/>
            <a:ext cx="7772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340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273405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reviews sampled from the full dataset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282696"/>
            <a:ext cx="274320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3566160" y="3282696"/>
            <a:ext cx="777240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924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4760" y="3392424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star ratings — 1–2★ Negative, 3★ Neutral, 4–5★ Positive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941064"/>
            <a:ext cx="27432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3941064"/>
            <a:ext cx="7772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507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94760" y="40507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599432"/>
            <a:ext cx="274320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3566160" y="4599432"/>
            <a:ext cx="7772400" cy="65836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709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94760" y="4709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real customer feedback — ideal for a practical sentiment classifier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text to prediction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Cleaning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punctuation &amp; special characters, remove stopwords, tokenize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30168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9" name="Text 7"/>
          <p:cNvSpPr/>
          <p:nvPr/>
        </p:nvSpPr>
        <p:spPr>
          <a:xfrm>
            <a:off x="3858768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58768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58768" y="34747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frequency, most common terms, sentiment class distribution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37376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6665976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65976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65976" y="34747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— converts cleaned text into numerical 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44584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9473184" y="23317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473184" y="3017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473184" y="347472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with class_weight='balanced' on TF-IDF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920240"/>
          <a:ext cx="60350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92024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749808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Breakdown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(Correctly Identified)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0" y="301752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 16 of 37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Neutral:   20 of 65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 1,364 of 1,498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rebalancing, the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caught 0 of 37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and 0 of 65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9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reviews.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revealed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84832"/>
            <a:ext cx="128016" cy="128016"/>
          </a:xfrm>
          <a:prstGeom prst="ellipse">
            <a:avLst/>
          </a:prstGeom>
          <a:solidFill>
            <a:srgbClr val="1F8A8C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011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model looked strong on paper (93.75% accuracy) but a class imbalance problem meant it was almost always predicting 'Positive'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999232"/>
            <a:ext cx="128016" cy="128016"/>
          </a:xfrm>
          <a:prstGeom prst="ellipse">
            <a:avLst/>
          </a:prstGeom>
          <a:solidFill>
            <a:srgbClr val="1F8A8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926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with class_weight='balanced' traded some accuracy (87.5%) for real gains in detecting Negative and Neutral sentiment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13632"/>
            <a:ext cx="128016" cy="128016"/>
          </a:xfrm>
          <a:prstGeom prst="ellipse">
            <a:avLst/>
          </a:prstGeom>
          <a:solidFill>
            <a:srgbClr val="1F8A8C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840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Fare-like signal came from specific keywords — words tied to complaints or praise were strong predictors of sentiment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828032"/>
            <a:ext cx="128016" cy="128016"/>
          </a:xfrm>
          <a:prstGeom prst="ellipse">
            <a:avLst/>
          </a:prstGeom>
          <a:solidFill>
            <a:srgbClr val="1F8A8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754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was misleading here — the confusion matrix was what actually revealed the imbalance problem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could be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331720"/>
            <a:ext cx="411480" cy="41148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negative reviews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383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 negative sentiment reviews to customer support for faster response.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331720"/>
            <a:ext cx="411480" cy="41148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sentiment over time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3383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sentiment trends by product line to catch quality issues early.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2331720"/>
            <a:ext cx="411480" cy="41148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into dashboards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338328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sentiment scores in a business intelligence dashboard for product teams.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F8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project goes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157984"/>
            <a:ext cx="320040" cy="320040"/>
          </a:xfrm>
          <a:prstGeom prst="rect">
            <a:avLst/>
          </a:prstGeom>
          <a:solidFill>
            <a:srgbClr val="1F8A8C"/>
          </a:solidFill>
          <a:ln/>
        </p:spPr>
      </p:sp>
      <p:sp>
        <p:nvSpPr>
          <p:cNvPr id="5" name="Text 3"/>
          <p:cNvSpPr/>
          <p:nvPr/>
        </p:nvSpPr>
        <p:spPr>
          <a:xfrm>
            <a:off x="1325880" y="210312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full dataset rather than an 8,000-review sample for stronger generalization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26664"/>
            <a:ext cx="320040" cy="320040"/>
          </a:xfrm>
          <a:prstGeom prst="rect">
            <a:avLst/>
          </a:prstGeom>
          <a:solidFill>
            <a:srgbClr val="1F8A8C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97180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word embeddings (Word2Vec) or a fine-tuned transformer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895344"/>
            <a:ext cx="320040" cy="320040"/>
          </a:xfrm>
          <a:prstGeom prst="rect">
            <a:avLst/>
          </a:prstGeom>
          <a:solidFill>
            <a:srgbClr val="1F8A8C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384048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improve minority-class detection with oversampling techniques, building on the class-weighting fix already applied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64024"/>
            <a:ext cx="320040" cy="320040"/>
          </a:xfrm>
          <a:prstGeom prst="rect">
            <a:avLst/>
          </a:prstGeom>
          <a:solidFill>
            <a:srgbClr val="1F8A8C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4709160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live API endpoint for real-time review scoring, not just a demo app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280160" cy="0"/>
          </a:xfrm>
          <a:prstGeom prst="line">
            <a:avLst/>
          </a:prstGeom>
          <a:noFill/>
          <a:ln w="38100">
            <a:solidFill>
              <a:srgbClr val="1F8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86646"/>
            <a:ext cx="8229600" cy="514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r>
              <a:rPr lang="en-US" sz="1400" dirty="0" err="1">
                <a:hlinkClick r:id="rId3"/>
              </a:rPr>
              <a:t>michaelowos</a:t>
            </a:r>
            <a:r>
              <a:rPr lang="en-US" sz="1400" dirty="0">
                <a:hlinkClick r:id="rId3"/>
              </a:rPr>
              <a:t>-debug/</a:t>
            </a:r>
            <a:r>
              <a:rPr lang="en-US" sz="1400" dirty="0" err="1">
                <a:hlinkClick r:id="rId3"/>
              </a:rPr>
              <a:t>analystlab</a:t>
            </a:r>
            <a:r>
              <a:rPr lang="en-US" sz="1400" dirty="0">
                <a:hlinkClick r:id="rId3"/>
              </a:rPr>
              <a:t>-ai-internship: "</a:t>
            </a:r>
            <a:r>
              <a:rPr lang="en-US" sz="1400" dirty="0" err="1">
                <a:hlinkClick r:id="rId3"/>
              </a:rPr>
              <a:t>AnalystLab</a:t>
            </a:r>
            <a:r>
              <a:rPr lang="en-US" sz="1400" dirty="0">
                <a:hlinkClick r:id="rId3"/>
              </a:rPr>
              <a:t> Africa AI Internship - Weeks 1-8"</a:t>
            </a: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</a:p>
          <a:p>
            <a:endParaRPr lang="en-US" sz="1250" dirty="0">
              <a:solidFill>
                <a:srgbClr val="5A64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r>
              <a:rPr lang="en-US" sz="1400" dirty="0" err="1">
                <a:hlinkClick r:id="rId4"/>
              </a:rPr>
              <a:t>Streamlit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519</Words>
  <Application>Microsoft Office PowerPoint</Application>
  <PresentationFormat>Widescreen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Owonubi</cp:lastModifiedBy>
  <cp:revision>2</cp:revision>
  <dcterms:created xsi:type="dcterms:W3CDTF">2026-09-01T02:23:06Z</dcterms:created>
  <dcterms:modified xsi:type="dcterms:W3CDTF">2026-09-01T03:07:59Z</dcterms:modified>
</cp:coreProperties>
</file>